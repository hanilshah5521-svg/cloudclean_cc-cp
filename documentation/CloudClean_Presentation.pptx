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Same team and guide as the mid-sem review deck. This version presents the completed, working CloudClean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three-panel structure as the mid-sem deck: Problem, Solution, Impact - updated to describe what was actually delivered.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Real, implemented architecture - not a proposal. Same five-layer + five-step structure as the mid-sem deck, filled in with the actual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Unchanged from the mid-sem review deck - this is the team's original literature survey, reused as-is.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column unchanged from the proposal. Right column updated to name the actual features built, not just planned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features, all real and demonstrated live, not slideware.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paid AI APIs, no paid databases, no paid auth platform - a hard requirement we kept throughout.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Directly maps to the safety requirements: nothing is ever deleted automatically, and every destructive step needs verified success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verbatim output of the RecommendationEngine. Right: real breakdown captured from a live demo analysis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numbers on this slide were captured from an actual run of the app during development - not placeholders.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two-column structure as the mid-sem deck; conclusion now reports what shipped, not what was planned.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slide, same dark/title treatment as slide 1 for a sandwich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0515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CloudClean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Cloud Storage Optimization &amp; Lifecycle Management Platform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</a:t>
            </a:r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</a:t>
            </a:r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CSE-AIML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703320"/>
            <a:ext cx="99669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33856" y="3995928"/>
            <a:ext cx="566928" cy="566928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3226" y="4075298"/>
            <a:ext cx="408188" cy="40818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78308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783080" y="43434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Hanil Shah   |   Harsh Patel   |   Tanaya Hartalekar   |   Shravani Dixit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51560" y="5074920"/>
            <a:ext cx="95097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33856" y="5340096"/>
            <a:ext cx="566928" cy="566928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226" y="5419466"/>
            <a:ext cx="408188" cy="40818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783080" y="53675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1783080" y="5669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Sneha Patil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0"/>
            <a:ext cx="12045391" cy="914400"/>
          </a:xfrm>
          <a:prstGeom prst="rect">
            <a:avLst/>
          </a:prstGeom>
          <a:solidFill>
            <a:srgbClr val="0B19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985455" y="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6FA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COURSE PROJECT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3520440" cy="5166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33956" y="1563624"/>
            <a:ext cx="658368" cy="658368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6128" y="1655796"/>
            <a:ext cx="474025" cy="47402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22860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253288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017520"/>
            <a:ext cx="29718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growth of cloud data leads to storage exhaustion.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Duplicate, outdated, and large files occupy unnecessary space.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manually search and organize files - time-consuming.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platforms show usage stats but offer little real optimization help.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users buy extra storage despite having recoverable space.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43400" y="1325880"/>
            <a:ext cx="3520440" cy="5166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74436" y="1563624"/>
            <a:ext cx="658368" cy="658368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608" y="1655796"/>
            <a:ext cx="474025" cy="47402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343400" y="22860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4343400" y="253288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4617720" y="3017520"/>
            <a:ext cx="29718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CloudClean: a full React + FastAPI app connected to real Google Drive via OAuth 2.0.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Metadata-first analysis: duplicates, large files, inactive files, compression potential.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rule-based, fully explainable Recommendation Engine - every suggestion states its reason.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compression engine (Pillow + pikepdf) that actually re-encodes files.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by design: verify-before-trash workflow for every destructive action.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183880" y="1325880"/>
            <a:ext cx="3520440" cy="5166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614916" y="1563624"/>
            <a:ext cx="658368" cy="658368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7088" y="1655796"/>
            <a:ext cx="474025" cy="47402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183880" y="22860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8183880" y="253288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Outcomes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8458200" y="3017520"/>
            <a:ext cx="29718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works: Connect - Analyze - Recommend - Optimize - Refresh.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0-100 Optimization Score with a documented, auditable formula.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Mode: try the full product with zero setup and zero cost.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automated backend tests passing, including real compression round-trips.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on free &amp; open-source technology, locally or via Docker.</a:t>
            </a:r>
            <a:endParaRPr lang="en-US" sz="1150" dirty="0"/>
          </a:p>
        </p:txBody>
      </p:sp>
      <p:sp>
        <p:nvSpPr>
          <p:cNvPr id="24" name="Text 19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0"/>
            <a:ext cx="12045391" cy="914400"/>
          </a:xfrm>
          <a:prstGeom prst="rect">
            <a:avLst/>
          </a:prstGeom>
          <a:solidFill>
            <a:srgbClr val="0B19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985455" y="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6FA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COURSE PROJECT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2139696" cy="23317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16736" y="1417320"/>
            <a:ext cx="512064" cy="512064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8425" y="1489009"/>
            <a:ext cx="368686" cy="36868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1965960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216712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UI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46888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Dashboard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67512" y="2862072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▪"/>
            </a:pPr>
            <a:r>
              <a:rPr lang="en-US" sz="87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overview, recommendations, file explorer</a:t>
            </a:r>
            <a:endParaRPr lang="en-US" sz="87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▪"/>
            </a:pPr>
            <a:r>
              <a:rPr lang="en-US" sz="87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+ Recharts for a professional SaaS look</a:t>
            </a:r>
            <a:endParaRPr lang="en-US" sz="870" dirty="0"/>
          </a:p>
        </p:txBody>
      </p:sp>
      <p:sp>
        <p:nvSpPr>
          <p:cNvPr id="13" name="Shape 10"/>
          <p:cNvSpPr/>
          <p:nvPr/>
        </p:nvSpPr>
        <p:spPr>
          <a:xfrm>
            <a:off x="2807208" y="1234440"/>
            <a:ext cx="2139696" cy="23317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21024" y="1417320"/>
            <a:ext cx="512064" cy="512064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2713" y="1489009"/>
            <a:ext cx="368686" cy="36868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807208" y="1965960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2807208" y="216712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API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2898648" y="246888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 2.0 + FastAPI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2971800" y="2862072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▪"/>
            </a:pPr>
            <a:r>
              <a:rPr lang="en-US" sz="87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signed-cookie sessions</a:t>
            </a:r>
            <a:endParaRPr lang="en-US" sz="87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▪"/>
            </a:pPr>
            <a:r>
              <a:rPr lang="en-US" sz="87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Minimum-necessary Drive scope, disclosed to the user</a:t>
            </a:r>
            <a:endParaRPr lang="en-US" sz="870" dirty="0"/>
          </a:p>
        </p:txBody>
      </p:sp>
      <p:sp>
        <p:nvSpPr>
          <p:cNvPr id="20" name="Shape 16"/>
          <p:cNvSpPr/>
          <p:nvPr/>
        </p:nvSpPr>
        <p:spPr>
          <a:xfrm>
            <a:off x="5111496" y="1234440"/>
            <a:ext cx="2139696" cy="23317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925312" y="1417320"/>
            <a:ext cx="512064" cy="512064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7001" y="1489009"/>
            <a:ext cx="368686" cy="368686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111496" y="1965960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5111496" y="216712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Layer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5202936" y="246888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Analyzers + Recommendation Engine</a:t>
            </a:r>
            <a:endParaRPr lang="en-US" sz="950" dirty="0"/>
          </a:p>
        </p:txBody>
      </p:sp>
      <p:sp>
        <p:nvSpPr>
          <p:cNvPr id="26" name="Text 21"/>
          <p:cNvSpPr txBox="1"/>
          <p:nvPr/>
        </p:nvSpPr>
        <p:spPr>
          <a:xfrm>
            <a:off x="5276088" y="2862072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▪"/>
            </a:pPr>
            <a:r>
              <a:rPr lang="en-US" sz="87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duplicate, large &amp; inactive files</a:t>
            </a:r>
            <a:endParaRPr lang="en-US" sz="87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▪"/>
            </a:pPr>
            <a:r>
              <a:rPr lang="en-US" sz="87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explainable, scored suggestions</a:t>
            </a:r>
            <a:endParaRPr lang="en-US" sz="870" dirty="0"/>
          </a:p>
        </p:txBody>
      </p:sp>
      <p:sp>
        <p:nvSpPr>
          <p:cNvPr id="27" name="Shape 22"/>
          <p:cNvSpPr/>
          <p:nvPr/>
        </p:nvSpPr>
        <p:spPr>
          <a:xfrm>
            <a:off x="7415784" y="1234440"/>
            <a:ext cx="2139696" cy="23317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8229600" y="1417320"/>
            <a:ext cx="512064" cy="512064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1289" y="1489009"/>
            <a:ext cx="368686" cy="368686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7415784" y="1965960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7415784" y="216712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7507224" y="246888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SQLAlchemy</a:t>
            </a:r>
            <a:endParaRPr lang="en-US" sz="950" dirty="0"/>
          </a:p>
        </p:txBody>
      </p:sp>
      <p:sp>
        <p:nvSpPr>
          <p:cNvPr id="33" name="Text 27"/>
          <p:cNvSpPr txBox="1"/>
          <p:nvPr/>
        </p:nvSpPr>
        <p:spPr>
          <a:xfrm>
            <a:off x="7580376" y="2862072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▪"/>
            </a:pPr>
            <a:r>
              <a:rPr lang="en-US" sz="87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Caches metadata, recommendations, history</a:t>
            </a:r>
            <a:endParaRPr lang="en-US" sz="87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▪"/>
            </a:pPr>
            <a:r>
              <a:rPr lang="en-US" sz="87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file content ever persisted to disk</a:t>
            </a:r>
            <a:endParaRPr lang="en-US" sz="870" dirty="0"/>
          </a:p>
        </p:txBody>
      </p:sp>
      <p:sp>
        <p:nvSpPr>
          <p:cNvPr id="34" name="Shape 28"/>
          <p:cNvSpPr/>
          <p:nvPr/>
        </p:nvSpPr>
        <p:spPr>
          <a:xfrm>
            <a:off x="9720072" y="1234440"/>
            <a:ext cx="2139696" cy="23317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10533888" y="1417320"/>
            <a:ext cx="512064" cy="512064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5577" y="1489009"/>
            <a:ext cx="368686" cy="368686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9720072" y="1965960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9720072" y="216712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Dashboard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811512" y="246888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+ Optimization Score</a:t>
            </a:r>
            <a:endParaRPr lang="en-US" sz="950" dirty="0"/>
          </a:p>
        </p:txBody>
      </p:sp>
      <p:sp>
        <p:nvSpPr>
          <p:cNvPr id="40" name="Text 33"/>
          <p:cNvSpPr txBox="1"/>
          <p:nvPr/>
        </p:nvSpPr>
        <p:spPr>
          <a:xfrm>
            <a:off x="9884664" y="2862072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▪"/>
            </a:pPr>
            <a:r>
              <a:rPr lang="en-US" sz="87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breakdown, savings calculator</a:t>
            </a:r>
            <a:endParaRPr lang="en-US" sz="87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▪"/>
            </a:pPr>
            <a:r>
              <a:rPr lang="en-US" sz="87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snapshots over time - nothing fabricated</a:t>
            </a:r>
            <a:endParaRPr lang="en-US" sz="870" dirty="0"/>
          </a:p>
        </p:txBody>
      </p:sp>
      <p:sp>
        <p:nvSpPr>
          <p:cNvPr id="41" name="Shape 34"/>
          <p:cNvSpPr/>
          <p:nvPr/>
        </p:nvSpPr>
        <p:spPr>
          <a:xfrm>
            <a:off x="502920" y="3840480"/>
            <a:ext cx="11185855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42" name="Text 35"/>
          <p:cNvSpPr txBox="1"/>
          <p:nvPr/>
        </p:nvSpPr>
        <p:spPr>
          <a:xfrm>
            <a:off x="822960" y="40050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Workflow</a:t>
            </a:r>
            <a:endParaRPr lang="en-US" sz="1500" dirty="0"/>
          </a:p>
        </p:txBody>
      </p:sp>
      <p:sp>
        <p:nvSpPr>
          <p:cNvPr id="43" name="Shape 36"/>
          <p:cNvSpPr/>
          <p:nvPr/>
        </p:nvSpPr>
        <p:spPr>
          <a:xfrm>
            <a:off x="914400" y="4526280"/>
            <a:ext cx="457200" cy="45720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8" y="4590288"/>
            <a:ext cx="329184" cy="329184"/>
          </a:xfrm>
          <a:prstGeom prst="rect">
            <a:avLst/>
          </a:prstGeom>
        </p:spPr>
      </p:pic>
      <p:sp>
        <p:nvSpPr>
          <p:cNvPr id="45" name="Shape 37"/>
          <p:cNvSpPr/>
          <p:nvPr/>
        </p:nvSpPr>
        <p:spPr>
          <a:xfrm>
            <a:off x="1389888" y="4754880"/>
            <a:ext cx="1688531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46" name="Text 38"/>
          <p:cNvSpPr txBox="1"/>
          <p:nvPr/>
        </p:nvSpPr>
        <p:spPr>
          <a:xfrm>
            <a:off x="768096" y="5047488"/>
            <a:ext cx="21823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050" dirty="0"/>
          </a:p>
        </p:txBody>
      </p:sp>
      <p:sp>
        <p:nvSpPr>
          <p:cNvPr id="47" name="Text 39"/>
          <p:cNvSpPr txBox="1"/>
          <p:nvPr/>
        </p:nvSpPr>
        <p:spPr>
          <a:xfrm>
            <a:off x="768096" y="5321808"/>
            <a:ext cx="218230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7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sign in with Google OAuth, granting the minimum Drive access CloudClean needs.</a:t>
            </a:r>
            <a:endParaRPr lang="en-US" sz="770" dirty="0"/>
          </a:p>
        </p:txBody>
      </p:sp>
      <p:sp>
        <p:nvSpPr>
          <p:cNvPr id="48" name="Shape 40"/>
          <p:cNvSpPr/>
          <p:nvPr/>
        </p:nvSpPr>
        <p:spPr>
          <a:xfrm>
            <a:off x="3169859" y="4526280"/>
            <a:ext cx="457200" cy="45720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3867" y="4590288"/>
            <a:ext cx="329184" cy="329184"/>
          </a:xfrm>
          <a:prstGeom prst="rect">
            <a:avLst/>
          </a:prstGeom>
        </p:spPr>
      </p:pic>
      <p:sp>
        <p:nvSpPr>
          <p:cNvPr id="50" name="Shape 41"/>
          <p:cNvSpPr/>
          <p:nvPr/>
        </p:nvSpPr>
        <p:spPr>
          <a:xfrm>
            <a:off x="3645347" y="4754880"/>
            <a:ext cx="1688531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51" name="Text 42"/>
          <p:cNvSpPr txBox="1"/>
          <p:nvPr/>
        </p:nvSpPr>
        <p:spPr>
          <a:xfrm>
            <a:off x="3023555" y="5047488"/>
            <a:ext cx="21823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Collection</a:t>
            </a:r>
            <a:endParaRPr lang="en-US" sz="1050" dirty="0"/>
          </a:p>
        </p:txBody>
      </p:sp>
      <p:sp>
        <p:nvSpPr>
          <p:cNvPr id="52" name="Text 43"/>
          <p:cNvSpPr txBox="1"/>
          <p:nvPr/>
        </p:nvSpPr>
        <p:spPr>
          <a:xfrm>
            <a:off x="3023555" y="5321808"/>
            <a:ext cx="218230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7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API v3 is paged for file metadata only - no file content is downloaded here.</a:t>
            </a:r>
            <a:endParaRPr lang="en-US" sz="770" dirty="0"/>
          </a:p>
        </p:txBody>
      </p:sp>
      <p:sp>
        <p:nvSpPr>
          <p:cNvPr id="53" name="Shape 44"/>
          <p:cNvSpPr/>
          <p:nvPr/>
        </p:nvSpPr>
        <p:spPr>
          <a:xfrm>
            <a:off x="5425318" y="4526280"/>
            <a:ext cx="457200" cy="45720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9326" y="4590288"/>
            <a:ext cx="329184" cy="329184"/>
          </a:xfrm>
          <a:prstGeom prst="rect">
            <a:avLst/>
          </a:prstGeom>
        </p:spPr>
      </p:pic>
      <p:sp>
        <p:nvSpPr>
          <p:cNvPr id="55" name="Shape 45"/>
          <p:cNvSpPr/>
          <p:nvPr/>
        </p:nvSpPr>
        <p:spPr>
          <a:xfrm>
            <a:off x="5900806" y="4754880"/>
            <a:ext cx="1688531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56" name="Text 46"/>
          <p:cNvSpPr txBox="1"/>
          <p:nvPr/>
        </p:nvSpPr>
        <p:spPr>
          <a:xfrm>
            <a:off x="5279014" y="5047488"/>
            <a:ext cx="21823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Analysis</a:t>
            </a:r>
            <a:endParaRPr lang="en-US" sz="1050" dirty="0"/>
          </a:p>
        </p:txBody>
      </p:sp>
      <p:sp>
        <p:nvSpPr>
          <p:cNvPr id="57" name="Text 47"/>
          <p:cNvSpPr txBox="1"/>
          <p:nvPr/>
        </p:nvSpPr>
        <p:spPr>
          <a:xfrm>
            <a:off x="5279014" y="5321808"/>
            <a:ext cx="218230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7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Analyzers flag duplicate, large, and potentially inactive files and estimate compression gains.</a:t>
            </a:r>
            <a:endParaRPr lang="en-US" sz="770" dirty="0"/>
          </a:p>
        </p:txBody>
      </p:sp>
      <p:sp>
        <p:nvSpPr>
          <p:cNvPr id="58" name="Shape 48"/>
          <p:cNvSpPr/>
          <p:nvPr/>
        </p:nvSpPr>
        <p:spPr>
          <a:xfrm>
            <a:off x="7680777" y="4526280"/>
            <a:ext cx="457200" cy="45720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4785" y="4590288"/>
            <a:ext cx="329184" cy="329184"/>
          </a:xfrm>
          <a:prstGeom prst="rect">
            <a:avLst/>
          </a:prstGeom>
        </p:spPr>
      </p:pic>
      <p:sp>
        <p:nvSpPr>
          <p:cNvPr id="60" name="Shape 49"/>
          <p:cNvSpPr/>
          <p:nvPr/>
        </p:nvSpPr>
        <p:spPr>
          <a:xfrm>
            <a:off x="8156265" y="4754880"/>
            <a:ext cx="1688531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61" name="Text 50"/>
          <p:cNvSpPr txBox="1"/>
          <p:nvPr/>
        </p:nvSpPr>
        <p:spPr>
          <a:xfrm>
            <a:off x="7534473" y="5047488"/>
            <a:ext cx="21823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1050" dirty="0"/>
          </a:p>
        </p:txBody>
      </p:sp>
      <p:sp>
        <p:nvSpPr>
          <p:cNvPr id="62" name="Text 51"/>
          <p:cNvSpPr txBox="1"/>
          <p:nvPr/>
        </p:nvSpPr>
        <p:spPr>
          <a:xfrm>
            <a:off x="7534473" y="5321808"/>
            <a:ext cx="218230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7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logic scores and explains each suggestion, with confidence and risk.</a:t>
            </a:r>
            <a:endParaRPr lang="en-US" sz="770" dirty="0"/>
          </a:p>
        </p:txBody>
      </p:sp>
      <p:sp>
        <p:nvSpPr>
          <p:cNvPr id="63" name="Shape 52"/>
          <p:cNvSpPr/>
          <p:nvPr/>
        </p:nvSpPr>
        <p:spPr>
          <a:xfrm>
            <a:off x="9936236" y="4526280"/>
            <a:ext cx="457200" cy="45720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6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00244" y="4590288"/>
            <a:ext cx="329184" cy="329184"/>
          </a:xfrm>
          <a:prstGeom prst="rect">
            <a:avLst/>
          </a:prstGeom>
        </p:spPr>
      </p:pic>
      <p:sp>
        <p:nvSpPr>
          <p:cNvPr id="65" name="Text 53"/>
          <p:cNvSpPr txBox="1"/>
          <p:nvPr/>
        </p:nvSpPr>
        <p:spPr>
          <a:xfrm>
            <a:off x="9789932" y="5047488"/>
            <a:ext cx="21823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&amp; Refresh</a:t>
            </a:r>
            <a:endParaRPr lang="en-US" sz="1050" dirty="0"/>
          </a:p>
        </p:txBody>
      </p:sp>
      <p:sp>
        <p:nvSpPr>
          <p:cNvPr id="66" name="Text 54"/>
          <p:cNvSpPr txBox="1"/>
          <p:nvPr/>
        </p:nvSpPr>
        <p:spPr>
          <a:xfrm>
            <a:off x="9789932" y="5321808"/>
            <a:ext cx="218230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7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confirmation, CloudClean acts safely, then re-queries Drive so the dashboard reflects reality.</a:t>
            </a:r>
            <a:endParaRPr lang="en-US" sz="770" dirty="0"/>
          </a:p>
        </p:txBody>
      </p:sp>
      <p:sp>
        <p:nvSpPr>
          <p:cNvPr id="67" name="Text 55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0"/>
            <a:ext cx="12045391" cy="914400"/>
          </a:xfrm>
          <a:prstGeom prst="rect">
            <a:avLst/>
          </a:prstGeom>
          <a:solidFill>
            <a:srgbClr val="0B19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985455" y="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6FA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COURSE PROJECT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1118585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502920"/>
                <a:gridCol w="2331720"/>
                <a:gridCol w="2606040"/>
                <a:gridCol w="24688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Contribution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930"/>
                    </a:solidFill>
                  </a:tcPr>
                </a:tc>
              </a:tr>
              <a:tr h="12984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Helping Users Automatically Find and Manage Sensitive, Expendable Files in Cloud Storage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on metadata + content features (Aletheia) predicts file sensitivity &amp; desired management.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79% accuracy predicting whether users want to keep, delete, or protect cloud files.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Focused on sensitive/unwanted files and user decisions; doesn't address broader storage optimization.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984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Reducing Latency and Storage Costs in Cloud Applications Through Advanced Data Management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cleanup using Regex, structured lifecycle rules, and fuzzy-matching deduplication.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Identifies and removes obsolete/redundant files, reducing storage costs and latency.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Relies on predefined rules/regex/fuzzy matching; no AI/ML-based file understanding.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Leveraging Data Deduplication Approaches in Cloud Storage: A Succinct 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of data deduplication approaches for cloud storage.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Surveys approaches for identifying and eliminating redundant data.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review paper - no novel system of its own to compare limitations against.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984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 a Data Management System for the Cloud: Lessons Learned and Future Directions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data-management architecture: file pruning, layout optimization, background maintenance.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Lessons from building Snowflake - efficient queries, pruning, layout, operating at scale.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Doesn't address ML-based recommendations, encryption, or user-facing cleanup workflows.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0"/>
            <a:ext cx="12045391" cy="914400"/>
          </a:xfrm>
          <a:prstGeom prst="rect">
            <a:avLst/>
          </a:prstGeom>
          <a:solidFill>
            <a:srgbClr val="0B19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985455" y="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6FA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COURSE PROJECT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5410048" cy="5120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508760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</a:t>
            </a:r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Gaps in Literature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011680"/>
            <a:ext cx="476996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194560"/>
            <a:ext cx="47699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Storage Management: </a:t>
            </a:r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cloud platforms require users to manually identify duplicate, outdated, and unnecessary files.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Storage Insights: </a:t>
            </a:r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solutions only display usage stats without intelligent optimization recommendations.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Automated Organization: </a:t>
            </a:r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stay unorganized, making it hard to locate and manage important data.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Intelligent Lifecycle Management: </a:t>
            </a:r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systems offer little support for automated archiving, cleanup, or health monitoring.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8728" y="1280160"/>
            <a:ext cx="5410048" cy="5120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98768" y="1508760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CloudClean Bridges It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98768" y="2011680"/>
            <a:ext cx="476996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98768" y="2194560"/>
            <a:ext cx="47699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Storage Analysis: </a:t>
            </a:r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analyzes Drive metadata to detect duplicate, large, and inactive files.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Recommendations: </a:t>
            </a:r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suggestion states its reason, estimated saving, confidence and risk - no black box.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File Organization: </a:t>
            </a:r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File Explorer with search, filters, sorting, and multi-select batch actions.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Health Monitoring: </a:t>
            </a:r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 0-100 Optimization Score and savings calculator, tracked over time.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0"/>
            <a:ext cx="12045391" cy="914400"/>
          </a:xfrm>
          <a:prstGeom prst="rect">
            <a:avLst/>
          </a:prstGeom>
          <a:solidFill>
            <a:srgbClr val="0B19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Implemented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985455" y="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6FA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COURSE PROJECT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2625014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31963" y="1499616"/>
            <a:ext cx="566928" cy="566928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1333" y="1578986"/>
            <a:ext cx="408188" cy="40818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12648" y="2194560"/>
            <a:ext cx="24055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67512" y="2606040"/>
            <a:ext cx="229583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Three-level matching: content hash, size+name, name - never auto-deletes.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56534" y="1234440"/>
            <a:ext cx="2625014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85577" y="1499616"/>
            <a:ext cx="566928" cy="566928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947" y="1578986"/>
            <a:ext cx="408188" cy="40818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66262" y="2194560"/>
            <a:ext cx="24055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Compression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3521126" y="2606040"/>
            <a:ext cx="229583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(JPEG/PNG/WebP) + pikepdf (PDF) actually re-encode files.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10148" y="1234440"/>
            <a:ext cx="2625014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39191" y="1499616"/>
            <a:ext cx="566928" cy="566928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560" y="1578986"/>
            <a:ext cx="408188" cy="40818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19876" y="2194560"/>
            <a:ext cx="24055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Verify-Before-Trash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6374740" y="2606040"/>
            <a:ext cx="229583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is only trashed after the optimized copy is uploaded &amp; verified.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9063761" y="1234440"/>
            <a:ext cx="2625014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0092804" y="1499616"/>
            <a:ext cx="566928" cy="566928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174" y="1578986"/>
            <a:ext cx="408188" cy="40818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173489" y="2194560"/>
            <a:ext cx="24055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Engine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9228353" y="2606040"/>
            <a:ext cx="229583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states its reason, confidence, and risk level.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02920" y="3794760"/>
            <a:ext cx="2625014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1531963" y="4059936"/>
            <a:ext cx="566928" cy="566928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1333" y="4139306"/>
            <a:ext cx="408188" cy="40818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12648" y="4754880"/>
            <a:ext cx="24055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Score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667512" y="5166360"/>
            <a:ext cx="229583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0-100 score with a documented, auditable formula.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3356534" y="3794760"/>
            <a:ext cx="2625014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385577" y="4059936"/>
            <a:ext cx="566928" cy="566928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4947" y="4139306"/>
            <a:ext cx="408188" cy="408188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3466262" y="4754880"/>
            <a:ext cx="24055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Calculator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3521126" y="5166360"/>
            <a:ext cx="229583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Google One pricing config - never a fabricated per-MB rate.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6210148" y="3794760"/>
            <a:ext cx="2625014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7239191" y="4059936"/>
            <a:ext cx="566928" cy="566928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8560" y="4139306"/>
            <a:ext cx="408188" cy="408188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6319876" y="4754880"/>
            <a:ext cx="24055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</a:t>
            </a:r>
            <a:endParaRPr lang="en-US" sz="1300" dirty="0"/>
          </a:p>
        </p:txBody>
      </p:sp>
      <p:sp>
        <p:nvSpPr>
          <p:cNvPr id="40" name="Text 31"/>
          <p:cNvSpPr txBox="1"/>
          <p:nvPr/>
        </p:nvSpPr>
        <p:spPr>
          <a:xfrm>
            <a:off x="6374740" y="5166360"/>
            <a:ext cx="229583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simulated Drive - try everything at zero cost, zero setup.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9063761" y="3794760"/>
            <a:ext cx="2625014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10092804" y="4059936"/>
            <a:ext cx="566928" cy="566928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72174" y="4139306"/>
            <a:ext cx="408188" cy="408188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9173489" y="4754880"/>
            <a:ext cx="24055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&amp; Restore</a:t>
            </a:r>
            <a:endParaRPr lang="en-US" sz="1300" dirty="0"/>
          </a:p>
        </p:txBody>
      </p:sp>
      <p:sp>
        <p:nvSpPr>
          <p:cNvPr id="45" name="Text 35"/>
          <p:cNvSpPr txBox="1"/>
          <p:nvPr/>
        </p:nvSpPr>
        <p:spPr>
          <a:xfrm>
            <a:off x="9228353" y="5166360"/>
            <a:ext cx="229583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logged; trashed files can be restored anytime.</a:t>
            </a:r>
            <a:endParaRPr lang="en-US" sz="1000" dirty="0"/>
          </a:p>
        </p:txBody>
      </p:sp>
      <p:sp>
        <p:nvSpPr>
          <p:cNvPr id="46" name="Text 36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0"/>
            <a:ext cx="12045391" cy="914400"/>
          </a:xfrm>
          <a:prstGeom prst="rect">
            <a:avLst/>
          </a:prstGeom>
          <a:solidFill>
            <a:srgbClr val="0B19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985455" y="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6FA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COURSE PROJECT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545738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0664" y="1860804"/>
            <a:ext cx="530352" cy="530352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913" y="1935053"/>
            <a:ext cx="381853" cy="38185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435608"/>
            <a:ext cx="2539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1783080"/>
            <a:ext cx="25398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  ·   Tailwind CSS   ·   Recharts   ·   React Router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4322978" y="1234440"/>
            <a:ext cx="3545738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60722" y="1860804"/>
            <a:ext cx="530352" cy="530352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4972" y="1935053"/>
            <a:ext cx="381853" cy="38185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191658" y="1435608"/>
            <a:ext cx="2539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5191658" y="1783080"/>
            <a:ext cx="25398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  ·   FastAPI   ·   Uvicorn   ·   Pydantic</a:t>
            </a:r>
            <a:endParaRPr lang="en-US" sz="980" dirty="0"/>
          </a:p>
        </p:txBody>
      </p:sp>
      <p:sp>
        <p:nvSpPr>
          <p:cNvPr id="16" name="Shape 12"/>
          <p:cNvSpPr/>
          <p:nvPr/>
        </p:nvSpPr>
        <p:spPr>
          <a:xfrm>
            <a:off x="8143037" y="1234440"/>
            <a:ext cx="3545738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80781" y="1860804"/>
            <a:ext cx="530352" cy="530352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030" y="1935053"/>
            <a:ext cx="381853" cy="38185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11717" y="1435608"/>
            <a:ext cx="2539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Integration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9011717" y="1783080"/>
            <a:ext cx="25398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  ·   Drive API v3   ·   google-api-python-client</a:t>
            </a:r>
            <a:endParaRPr lang="en-US" sz="980" dirty="0"/>
          </a:p>
        </p:txBody>
      </p:sp>
      <p:sp>
        <p:nvSpPr>
          <p:cNvPr id="21" name="Shape 16"/>
          <p:cNvSpPr/>
          <p:nvPr/>
        </p:nvSpPr>
        <p:spPr>
          <a:xfrm>
            <a:off x="502920" y="3291840"/>
            <a:ext cx="3545738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40664" y="3918204"/>
            <a:ext cx="530352" cy="530352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913" y="3992453"/>
            <a:ext cx="381853" cy="381853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371600" y="3493008"/>
            <a:ext cx="2539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1371600" y="3840480"/>
            <a:ext cx="25398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  ·   SQLAlchemy ORM</a:t>
            </a:r>
            <a:endParaRPr lang="en-US" sz="980" dirty="0"/>
          </a:p>
        </p:txBody>
      </p:sp>
      <p:sp>
        <p:nvSpPr>
          <p:cNvPr id="26" name="Shape 20"/>
          <p:cNvSpPr/>
          <p:nvPr/>
        </p:nvSpPr>
        <p:spPr>
          <a:xfrm>
            <a:off x="4322978" y="3291840"/>
            <a:ext cx="3545738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60722" y="3918204"/>
            <a:ext cx="530352" cy="530352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4972" y="3992453"/>
            <a:ext cx="381853" cy="381853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191658" y="3493008"/>
            <a:ext cx="2539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Processing</a:t>
            </a:r>
            <a:endParaRPr lang="en-US" sz="1350" dirty="0"/>
          </a:p>
        </p:txBody>
      </p:sp>
      <p:sp>
        <p:nvSpPr>
          <p:cNvPr id="30" name="Text 23"/>
          <p:cNvSpPr txBox="1"/>
          <p:nvPr/>
        </p:nvSpPr>
        <p:spPr>
          <a:xfrm>
            <a:off x="5191658" y="3840480"/>
            <a:ext cx="25398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(images)   ·   pikepdf (PDF)   ·   zipfile (archives)</a:t>
            </a:r>
            <a:endParaRPr lang="en-US" sz="980" dirty="0"/>
          </a:p>
        </p:txBody>
      </p:sp>
      <p:sp>
        <p:nvSpPr>
          <p:cNvPr id="31" name="Shape 24"/>
          <p:cNvSpPr/>
          <p:nvPr/>
        </p:nvSpPr>
        <p:spPr>
          <a:xfrm>
            <a:off x="8143037" y="3291840"/>
            <a:ext cx="3545738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80781" y="3918204"/>
            <a:ext cx="530352" cy="530352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5030" y="3992453"/>
            <a:ext cx="381853" cy="381853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011717" y="3493008"/>
            <a:ext cx="2539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DevOps</a:t>
            </a:r>
            <a:endParaRPr lang="en-US" sz="1350" dirty="0"/>
          </a:p>
        </p:txBody>
      </p:sp>
      <p:sp>
        <p:nvSpPr>
          <p:cNvPr id="35" name="Text 27"/>
          <p:cNvSpPr txBox="1"/>
          <p:nvPr/>
        </p:nvSpPr>
        <p:spPr>
          <a:xfrm>
            <a:off x="9011717" y="3840480"/>
            <a:ext cx="25398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  ·   Docker   ·   Docker Compose</a:t>
            </a:r>
            <a:endParaRPr lang="en-US" sz="980" dirty="0"/>
          </a:p>
        </p:txBody>
      </p:sp>
      <p:sp>
        <p:nvSpPr>
          <p:cNvPr id="36" name="Shape 28"/>
          <p:cNvSpPr/>
          <p:nvPr/>
        </p:nvSpPr>
        <p:spPr>
          <a:xfrm>
            <a:off x="502920" y="5212080"/>
            <a:ext cx="11185855" cy="640080"/>
          </a:xfrm>
          <a:prstGeom prst="roundRect">
            <a:avLst>
              <a:gd name="adj" fmla="val 14286"/>
            </a:avLst>
          </a:prstGeom>
          <a:solidFill>
            <a:srgbClr val="0B1930"/>
          </a:solidFill>
          <a:ln/>
        </p:spPr>
      </p:sp>
      <p:sp>
        <p:nvSpPr>
          <p:cNvPr id="37" name="Text 29"/>
          <p:cNvSpPr txBox="1"/>
          <p:nvPr/>
        </p:nvSpPr>
        <p:spPr>
          <a:xfrm>
            <a:off x="502920" y="521208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free &amp; open-source - runs at zero cost beyond your own Google account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0"/>
            <a:ext cx="12045391" cy="914400"/>
          </a:xfrm>
          <a:prstGeom prst="rect">
            <a:avLst/>
          </a:prstGeom>
          <a:solidFill>
            <a:srgbClr val="0B19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Security Workflow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985455" y="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6FA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COURSE PROJECT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85855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3990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Safety Pipeline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1892808"/>
            <a:ext cx="2054291" cy="1051560"/>
          </a:xfrm>
          <a:prstGeom prst="roundRect">
            <a:avLst>
              <a:gd name="adj" fmla="val 6957"/>
            </a:avLst>
          </a:prstGeom>
          <a:solidFill>
            <a:srgbClr val="DBEAF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32104" y="1892808"/>
            <a:ext cx="194456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original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 memory)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2831531" y="2130552"/>
            <a:ext cx="9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922971" y="1892808"/>
            <a:ext cx="2054291" cy="1051560"/>
          </a:xfrm>
          <a:prstGeom prst="roundRect">
            <a:avLst>
              <a:gd name="adj" fmla="val 6957"/>
            </a:avLst>
          </a:prstGeom>
          <a:solidFill>
            <a:srgbClr val="DBEAF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977835" y="1892808"/>
            <a:ext cx="194456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(Pillow / pikepdf)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977262" y="2130552"/>
            <a:ext cx="9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68702" y="1892808"/>
            <a:ext cx="2054291" cy="1051560"/>
          </a:xfrm>
          <a:prstGeom prst="roundRect">
            <a:avLst>
              <a:gd name="adj" fmla="val 6957"/>
            </a:avLst>
          </a:prstGeom>
          <a:solidFill>
            <a:srgbClr val="DBEAF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123566" y="1892808"/>
            <a:ext cx="194456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optimized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to Drive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7122993" y="2130552"/>
            <a:ext cx="9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214433" y="1892808"/>
            <a:ext cx="2054291" cy="1051560"/>
          </a:xfrm>
          <a:prstGeom prst="roundRect">
            <a:avLst>
              <a:gd name="adj" fmla="val 6957"/>
            </a:avLst>
          </a:prstGeom>
          <a:solidFill>
            <a:srgbClr val="DBEAF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69297" y="1892808"/>
            <a:ext cx="194456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upload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succeeded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9268724" y="2130552"/>
            <a:ext cx="9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360164" y="1892808"/>
            <a:ext cx="2054291" cy="1051560"/>
          </a:xfrm>
          <a:prstGeom prst="roundRect">
            <a:avLst>
              <a:gd name="adj" fmla="val 6957"/>
            </a:avLst>
          </a:prstGeom>
          <a:solidFill>
            <a:srgbClr val="DCFCE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5028" y="1892808"/>
            <a:ext cx="194456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original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Trash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474720"/>
            <a:ext cx="11185855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77240" y="36393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Safety Workflow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77240" y="4023360"/>
            <a:ext cx="2590724" cy="868680"/>
          </a:xfrm>
          <a:prstGeom prst="roundRect">
            <a:avLst>
              <a:gd name="adj" fmla="val 8421"/>
            </a:avLst>
          </a:prstGeom>
          <a:solidFill>
            <a:srgbClr val="DBEAF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2104" y="4023360"/>
            <a:ext cx="24809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duplicate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3367964" y="4251960"/>
            <a:ext cx="9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459404" y="4023360"/>
            <a:ext cx="2590724" cy="868680"/>
          </a:xfrm>
          <a:prstGeom prst="roundRect">
            <a:avLst>
              <a:gd name="adj" fmla="val 8421"/>
            </a:avLst>
          </a:prstGeom>
          <a:solidFill>
            <a:srgbClr val="DBEAF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514268" y="4023360"/>
            <a:ext cx="24809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recommends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copy to keep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6050128" y="4251960"/>
            <a:ext cx="9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41568" y="4023360"/>
            <a:ext cx="2590724" cy="868680"/>
          </a:xfrm>
          <a:prstGeom prst="roundRect">
            <a:avLst>
              <a:gd name="adj" fmla="val 8421"/>
            </a:avLst>
          </a:prstGeom>
          <a:solidFill>
            <a:srgbClr val="DBEAF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196432" y="4023360"/>
            <a:ext cx="24809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confirms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 overrides)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8732291" y="4251960"/>
            <a:ext cx="9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823731" y="4023360"/>
            <a:ext cx="2590724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878595" y="4023360"/>
            <a:ext cx="24809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moved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Trash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2920" y="5394960"/>
            <a:ext cx="11185855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777240" y="55321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Built In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777240" y="5852160"/>
            <a:ext cx="531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Signed, SameSite session cookies - no custom crypto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6370168" y="5852160"/>
            <a:ext cx="531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content is never written to disk - all in-memory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777240" y="6217920"/>
            <a:ext cx="531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entries sanitized against path-traversal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6370168" y="6217920"/>
            <a:ext cx="531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logged server-side only - no stack traces to the user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0"/>
            <a:ext cx="12045391" cy="914400"/>
          </a:xfrm>
          <a:prstGeom prst="rect">
            <a:avLst/>
          </a:prstGeom>
          <a:solidFill>
            <a:srgbClr val="0B19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Optimization Score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985455" y="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6FA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COURSE PROJECT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10048" cy="5120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463040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Recommendation, In Full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011680"/>
            <a:ext cx="4861408" cy="3931920"/>
          </a:xfrm>
          <a:prstGeom prst="roundRect">
            <a:avLst>
              <a:gd name="adj" fmla="val 2791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194560"/>
            <a:ext cx="44956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Compression recommended because: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File type: PDF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Current size: 96.9 MB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Estimated optimized size: 67.9 MB
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Estimated saving: 29.1 MB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Not modified for 19 months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Compression confidence: Medium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Method: pdf_optimize - stream compression, duplicate-object removal, content untouched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59893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output from a live analysis run - not illustrative text.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78728" y="1234440"/>
            <a:ext cx="5410048" cy="5120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53048" y="1463040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Score: How It's Computed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06511" y="2011680"/>
            <a:ext cx="1554480" cy="15544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06511" y="21031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8206511" y="2971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53048" y="3749040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100 - (weighted, capped penalties) = score. Every point traces to a documented constant - never a model call.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553048" y="4434840"/>
            <a:ext cx="385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inefficiency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0317175" y="44348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-2.3 pts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53048" y="4764024"/>
            <a:ext cx="486140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53048" y="4837176"/>
            <a:ext cx="385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opportunity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0317175" y="483717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-1.4 pts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53048" y="5166360"/>
            <a:ext cx="486140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53048" y="5239512"/>
            <a:ext cx="385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data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0317175" y="523951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-8.2 pts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53048" y="5568696"/>
            <a:ext cx="486140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53048" y="5641848"/>
            <a:ext cx="385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file concentration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0317175" y="564184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-15.0 pts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553048" y="5971032"/>
            <a:ext cx="486140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0"/>
            <a:ext cx="12045391" cy="914400"/>
          </a:xfrm>
          <a:prstGeom prst="rect">
            <a:avLst/>
          </a:prstGeom>
          <a:solidFill>
            <a:srgbClr val="0B19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Results - Demo Mode Run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985455" y="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6FA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COURSE PROJECT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2590724" cy="1554480"/>
          </a:xfrm>
          <a:prstGeom prst="roundRect">
            <a:avLst>
              <a:gd name="adj" fmla="val 5882"/>
            </a:avLst>
          </a:prstGeom>
          <a:solidFill>
            <a:srgbClr val="0B193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1435608"/>
            <a:ext cx="25907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14.1 / 15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94560"/>
            <a:ext cx="24078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Used (94%)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67964" y="1234440"/>
            <a:ext cx="2590724" cy="1554480"/>
          </a:xfrm>
          <a:prstGeom prst="roundRect">
            <a:avLst>
              <a:gd name="adj" fmla="val 5882"/>
            </a:avLst>
          </a:prstGeom>
          <a:solidFill>
            <a:srgbClr val="0B193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67964" y="1435608"/>
            <a:ext cx="25907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2.02 GB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459404" y="2194560"/>
            <a:ext cx="24078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Potentially Recoverable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33008" y="1234440"/>
            <a:ext cx="2590724" cy="1554480"/>
          </a:xfrm>
          <a:prstGeom prst="roundRect">
            <a:avLst>
              <a:gd name="adj" fmla="val 5882"/>
            </a:avLst>
          </a:prstGeom>
          <a:solidFill>
            <a:srgbClr val="0B193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33008" y="1435608"/>
            <a:ext cx="25907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/ 100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324448" y="2194560"/>
            <a:ext cx="24078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Score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98051" y="1234440"/>
            <a:ext cx="2590724" cy="1554480"/>
          </a:xfrm>
          <a:prstGeom prst="roundRect">
            <a:avLst>
              <a:gd name="adj" fmla="val 5882"/>
            </a:avLst>
          </a:prstGeom>
          <a:solidFill>
            <a:srgbClr val="0B193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098051" y="1435608"/>
            <a:ext cx="25907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9189491" y="2194560"/>
            <a:ext cx="24078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Analyzed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108960"/>
            <a:ext cx="11185855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2296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Live in This Session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3886200"/>
            <a:ext cx="1054577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PDF compression: </a:t>
            </a:r>
            <a:pPr indent="0" marL="0">
              <a:lnSpc>
                <a:spcPct val="108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contract.pdf: 97 MB → 70 MB - saved 26 MB (27.3%) via pikepdf, actually re-encoded.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resolved safely: </a:t>
            </a:r>
            <a:pPr indent="0" marL="0">
              <a:lnSpc>
                <a:spcPct val="108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vacation_photo.jpg moved to Trash after confirmation - recovered 14 MB, restore available.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archive: </a:t>
            </a:r>
            <a:pPr indent="0" marL="0">
              <a:lnSpc>
                <a:spcPct val="108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large videos (3.90 GB) bundled into a verified ZIP upload - saved 1.22 GB.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tests: </a:t>
            </a:r>
            <a:pPr indent="0" marL="0">
              <a:lnSpc>
                <a:spcPct val="108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 backend pytest cases passing - duplicate detection, real compression round-trips, full API flow.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0"/>
            <a:ext cx="12045391" cy="914400"/>
          </a:xfrm>
          <a:prstGeom prst="rect">
            <a:avLst/>
          </a:prstGeom>
          <a:solidFill>
            <a:srgbClr val="0B19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985455" y="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6FA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COURSE PROJECT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5410048" cy="5120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819324" y="1577340"/>
            <a:ext cx="777240" cy="77724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8137" y="1686154"/>
            <a:ext cx="559613" cy="55961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2468880"/>
            <a:ext cx="541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108960"/>
            <a:ext cx="46785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tested end-to-end: </a:t>
            </a:r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mockup - a genuinely working product.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Google OAuth + Drive API: </a:t>
            </a:r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integration, alongside a zero-cost Demo Mode.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is explainable: </a:t>
            </a:r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destructive action needs confirmation.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free: </a:t>
            </a:r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 or via Docker, entirely on open-source technology.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78728" y="1280160"/>
            <a:ext cx="5410048" cy="5120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595131" y="1577340"/>
            <a:ext cx="777240" cy="77724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3945" y="1686154"/>
            <a:ext cx="559613" cy="55961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278728" y="2468880"/>
            <a:ext cx="541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6644488" y="3108960"/>
            <a:ext cx="46785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Support: </a:t>
            </a:r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OneDrive, Dropbox, and AWS S3.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Lightweight ML: </a:t>
            </a:r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pattern-based personalization on top of the rule engine.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Job Queue: </a:t>
            </a:r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progress for very large Drives.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Re-Analysis: </a:t>
            </a:r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digests of new recommendations.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187452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0" y="278892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F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55368" y="3749040"/>
            <a:ext cx="7680960" cy="2194560"/>
          </a:xfrm>
          <a:prstGeom prst="roundRect">
            <a:avLst>
              <a:gd name="adj" fmla="val 5000"/>
            </a:avLst>
          </a:prstGeom>
          <a:solidFill>
            <a:srgbClr val="13294B"/>
          </a:solidFill>
          <a:ln/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575408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A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575408" y="427939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Hanil Shah   |   Harsh Patel   |   Tanaya Hartalekar   |   Shravani Dixit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575408" y="4846320"/>
            <a:ext cx="7040880" cy="0"/>
          </a:xfrm>
          <a:prstGeom prst="line">
            <a:avLst/>
          </a:prstGeom>
          <a:noFill/>
          <a:ln w="12700">
            <a:solidFill>
              <a:srgbClr val="2E4A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75408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A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575408" y="532180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Sneha Patil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CSE-AIML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CloudClean - Intelligent Cloud Storage Optimization &amp; Lifecycle Management Platform</dc:title>
  <dc:subject>PptxGenJS Presentation</dc:subject>
  <dc:creator>Hanil Shah, Harsh Patel, Tanaya Hartalekar, Shravani Dixit</dc:creator>
  <cp:lastModifiedBy>Hanil Shah, Harsh Patel, Tanaya Hartalekar, Shravani Dixit</cp:lastModifiedBy>
  <cp:revision>1</cp:revision>
  <dcterms:created xsi:type="dcterms:W3CDTF">2026-09-10T07:44:42Z</dcterms:created>
  <dcterms:modified xsi:type="dcterms:W3CDTF">2026-09-10T07:44:42Z</dcterms:modified>
</cp:coreProperties>
</file>